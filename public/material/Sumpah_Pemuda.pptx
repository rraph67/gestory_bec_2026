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3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7A1019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7A1019"/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68580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sumpah_pemuda/icon_flag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024128"/>
            <a:ext cx="786384" cy="7863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3317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OKTOBER 1928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9748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SUMPAH PEMUDA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5394960" y="3977640"/>
            <a:ext cx="1399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71600" y="41605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3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Sejarah Ikrar Persatuan Pemuda Indonesia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580644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Nusa  •  Satu Bangsa  •  Satu Bahasa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Benih Persatuan di Tengah Penjajahan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7F1E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67128"/>
            <a:ext cx="621792" cy="621792"/>
          </a:xfrm>
          <a:prstGeom prst="ellipse">
            <a:avLst/>
          </a:prstGeom>
          <a:solidFill>
            <a:srgbClr val="A31621"/>
          </a:solidFill>
          <a:ln/>
        </p:spPr>
      </p:sp>
      <p:pic>
        <p:nvPicPr>
          <p:cNvPr id="6" name="Image 0" descr="/home/claude/sumpah_pemuda/icon_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3134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671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Kesadaran Nasional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8803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Politik Etis Belanda membuka akses pendidikan bagi bumiputra, memunculkan kaum terpelajar yang mulai berpikir tentang nasib bangsa secara lebih luas.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187452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7F1E9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167128"/>
            <a:ext cx="621792" cy="621792"/>
          </a:xfrm>
          <a:prstGeom prst="ellipse">
            <a:avLst/>
          </a:prstGeom>
          <a:solidFill>
            <a:srgbClr val="A31621"/>
          </a:solidFill>
          <a:ln/>
        </p:spPr>
      </p:sp>
      <p:pic>
        <p:nvPicPr>
          <p:cNvPr id="11" name="Image 1" descr="/home/claude/sumpah_pemuda/icon_boo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3134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1671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Organisasi Kedaerahan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8803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 abad ke-20 lahir organisasi pemuda berbasis suku dan daerah, seperti Jong Java, Jong Sumatranen Bond, dan Jong Islamieten Bond.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7F1E9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498848"/>
            <a:ext cx="621792" cy="621792"/>
          </a:xfrm>
          <a:prstGeom prst="ellipse">
            <a:avLst/>
          </a:prstGeom>
          <a:solidFill>
            <a:srgbClr val="A31621"/>
          </a:solidFill>
          <a:ln/>
        </p:spPr>
      </p:sp>
      <p:pic>
        <p:nvPicPr>
          <p:cNvPr id="16" name="Image 2" descr="/home/claude/sumpah_pemuda/icon_boo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64515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4988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Perlunya Wadah Bersama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52120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Perjuangan yang masih terpecah menurut kedaerahan dirasa kurang efektif melawan kolonialisme, sehingga muncul dorongan untuk bersatu.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26480" y="42062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7F1E9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498848"/>
            <a:ext cx="621792" cy="621792"/>
          </a:xfrm>
          <a:prstGeom prst="ellipse">
            <a:avLst/>
          </a:prstGeom>
          <a:solidFill>
            <a:srgbClr val="A31621"/>
          </a:solidFill>
          <a:ln/>
        </p:spPr>
      </p:sp>
      <p:pic>
        <p:nvPicPr>
          <p:cNvPr id="21" name="Image 3" descr="/home/claude/sumpah_pemuda/icon_boo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464515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4988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Semangat Kepemudaan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52120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pelajar dan mahasiswa di kota-kota besar mulai berdiskusi lintas organisasi untuk merumuskan cita-cita Indonesia merdeka.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 MULA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Kongres Pemuda 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1C2B4A"/>
          </a:solidFill>
          <a:ln/>
        </p:spPr>
      </p:sp>
      <p:pic>
        <p:nvPicPr>
          <p:cNvPr id="5" name="Image 0" descr="/home/claude/sumpah_pemuda/icon_calendar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116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APRIL –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MEI 1926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3520440"/>
            <a:ext cx="9144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Weltevreden, Batavia (kini Jakarta)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3891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Diprakarsai oleh Perhimpunan Pelajar-Pelajar Indonesia (PPPI)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92040" y="1783080"/>
            <a:ext cx="384048" cy="384048"/>
          </a:xfrm>
          <a:prstGeom prst="ellipse">
            <a:avLst/>
          </a:prstGeom>
          <a:solidFill>
            <a:srgbClr val="A3162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709928"/>
            <a:ext cx="6172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pertama para pemuda dari berbagai organisasi kedaerahan untuk membahas cita-cita persatuan Indonesia.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892040" y="2862072"/>
            <a:ext cx="384048" cy="384048"/>
          </a:xfrm>
          <a:prstGeom prst="ellipse">
            <a:avLst/>
          </a:prstGeom>
          <a:solidFill>
            <a:srgbClr val="A3162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9204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2788920"/>
            <a:ext cx="6172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Membahas gagasan tentang bahasa persatuan, peran perempuan, serta pentingnya pendidikan kebangsaan.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892040" y="3941064"/>
            <a:ext cx="384048" cy="384048"/>
          </a:xfrm>
          <a:prstGeom prst="ellipse">
            <a:avLst/>
          </a:prstGeom>
          <a:solidFill>
            <a:srgbClr val="A3162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9204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40680" y="3867912"/>
            <a:ext cx="6172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menghasilkan kesepakatan konkret mengenai bentuk persatuan, namun berhasil menyalakan semangat untuk bertemu kembali.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892040" y="5020056"/>
            <a:ext cx="384048" cy="384048"/>
          </a:xfrm>
          <a:prstGeom prst="ellipse">
            <a:avLst/>
          </a:prstGeom>
          <a:solidFill>
            <a:srgbClr val="A3162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9204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4946904"/>
            <a:ext cx="6172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landasan penting yang membuka jalan bagi terselenggaranya Kongres Pemuda II dua tahun kemudian.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PUNCAK PERISTIWA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Kongres Pemuda II — 1928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10332720" cy="0"/>
          </a:xfrm>
          <a:prstGeom prst="line">
            <a:avLst/>
          </a:prstGeom>
          <a:noFill/>
          <a:ln w="38100">
            <a:solidFill>
              <a:srgbClr val="E7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36876" y="2734056"/>
            <a:ext cx="201168" cy="201168"/>
          </a:xfrm>
          <a:prstGeom prst="ellipse">
            <a:avLst/>
          </a:prstGeom>
          <a:solidFill>
            <a:srgbClr val="A316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15468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7F1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3291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3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566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Okt 1928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9776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Gedung Katholieke Jongelingen Bond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61772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kongres; membahas pentingnya persatuan dan sejarah pergerakan pemuda.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Okt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57316" y="2734056"/>
            <a:ext cx="201168" cy="201168"/>
          </a:xfrm>
          <a:prstGeom prst="ellipse">
            <a:avLst/>
          </a:prstGeom>
          <a:solidFill>
            <a:srgbClr val="A316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315468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7F1E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63440" y="3291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3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II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566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Okt 1928 (Pagi)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9776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Gedung Oost-Java Bioscoop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61772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tentang pendidikan nasional dan peran keluarga dalam menumbuhkan semangat kebangsaan.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Okt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77756" y="2734056"/>
            <a:ext cx="201168" cy="201168"/>
          </a:xfrm>
          <a:prstGeom prst="ellipse">
            <a:avLst/>
          </a:prstGeom>
          <a:solidFill>
            <a:srgbClr val="A316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315468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7F1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83880" y="3291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3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III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3566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Okt 1928 (Malam)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39776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Indonesische Clubgebouw, Jl. Kramat Raya 106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461772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Ikrar Sumpah Pemuda dibacakan; lagu Indonesia Raya diperdengarkan oleh W.R. Supratman.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Okt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97280"/>
            <a:ext cx="3657600" cy="3657600"/>
          </a:xfrm>
          <a:prstGeom prst="ellipse">
            <a:avLst/>
          </a:prstGeom>
          <a:solidFill>
            <a:srgbClr val="1622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IKRAR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Ikrar Sumpah Pemuda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2436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5486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38328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putra dan putri Indonesia, mengaku bertumpah darah yang satu, tanah Indonesia.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2436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874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3200400"/>
            <a:ext cx="5486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338328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putra dan putri Indonesia, mengaku berbangsa yang satu, bangsa Indonesia.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2436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874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21040" y="3200400"/>
            <a:ext cx="5486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338328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putra dan putri Indonesia, menjunjung bahasa persatuan, bahasa Indonesia.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PERUMUS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Tokoh-Tokoh Penting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7F1E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A31621"/>
          </a:solidFill>
          <a:ln/>
        </p:spPr>
      </p:sp>
      <p:pic>
        <p:nvPicPr>
          <p:cNvPr id="6" name="Image 0" descr="/home/claude/sumpah_pemuda/icon_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39112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60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Soegondo Djojopuspito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 Kongres Pemuda II, berasal dari PPPI, memimpin jalannya seluruh sidang.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42816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7F1E9"/>
          </a:solidFill>
          <a:ln/>
        </p:spPr>
      </p:sp>
      <p:sp>
        <p:nvSpPr>
          <p:cNvPr id="10" name="Shape 7"/>
          <p:cNvSpPr/>
          <p:nvPr/>
        </p:nvSpPr>
        <p:spPr>
          <a:xfrm>
            <a:off x="4471416" y="1920240"/>
            <a:ext cx="502920" cy="502920"/>
          </a:xfrm>
          <a:prstGeom prst="ellipse">
            <a:avLst/>
          </a:prstGeom>
          <a:solidFill>
            <a:srgbClr val="A31621"/>
          </a:solidFill>
          <a:ln/>
        </p:spPr>
      </p:sp>
      <p:pic>
        <p:nvPicPr>
          <p:cNvPr id="11" name="Image 1" descr="/home/claude/sumpah_pemuda/icon_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03911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71416" y="2560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Yamin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471416" y="29260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Sekretaris kongres; dikenal sebagai perumus naskah teks ikrar Sumpah Pemuda.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36992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7F1E9"/>
          </a:solidFill>
          <a:ln/>
        </p:spPr>
      </p:sp>
      <p:sp>
        <p:nvSpPr>
          <p:cNvPr id="15" name="Shape 11"/>
          <p:cNvSpPr/>
          <p:nvPr/>
        </p:nvSpPr>
        <p:spPr>
          <a:xfrm>
            <a:off x="8165592" y="1920240"/>
            <a:ext cx="502920" cy="502920"/>
          </a:xfrm>
          <a:prstGeom prst="ellipse">
            <a:avLst/>
          </a:prstGeom>
          <a:solidFill>
            <a:srgbClr val="A31621"/>
          </a:solidFill>
          <a:ln/>
        </p:spPr>
      </p:sp>
      <p:pic>
        <p:nvPicPr>
          <p:cNvPr id="16" name="Image 2" descr="/home/claude/sumpah_pemuda/icon_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203911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65592" y="2560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R.M. Djoko Marsaid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165592" y="29260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Wakil Ketua kongres, mewakili organisasi Jong Java dalam kepanitiaan.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7F1E9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A31621"/>
          </a:solidFill>
          <a:ln/>
        </p:spPr>
      </p:sp>
      <p:pic>
        <p:nvPicPr>
          <p:cNvPr id="21" name="Image 3" descr="/home/claude/sumpah_pemuda/icon_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18795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709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 Sjarifuddin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0749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Bendahara kongres yang mengelola kebutuhan logistik dan pendanaan acara.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42816" y="384048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7F1E9"/>
          </a:solidFill>
          <a:ln/>
        </p:spPr>
      </p:sp>
      <p:sp>
        <p:nvSpPr>
          <p:cNvPr id="25" name="Shape 19"/>
          <p:cNvSpPr/>
          <p:nvPr/>
        </p:nvSpPr>
        <p:spPr>
          <a:xfrm>
            <a:off x="4471416" y="4069080"/>
            <a:ext cx="502920" cy="502920"/>
          </a:xfrm>
          <a:prstGeom prst="ellipse">
            <a:avLst/>
          </a:prstGeom>
          <a:solidFill>
            <a:srgbClr val="A31621"/>
          </a:solidFill>
          <a:ln/>
        </p:spPr>
      </p:sp>
      <p:pic>
        <p:nvPicPr>
          <p:cNvPr id="26" name="Image 4" descr="/home/claude/sumpah_pemuda/icon_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418795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71416" y="4709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W.R. Supratman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471416" y="50749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Pencipta lagu Indonesia Raya yang pertama kali diperdengarkan pada penutupan kongres.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36992" y="384048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7F1E9"/>
          </a:solidFill>
          <a:ln/>
        </p:spPr>
      </p:sp>
      <p:sp>
        <p:nvSpPr>
          <p:cNvPr id="30" name="Shape 23"/>
          <p:cNvSpPr/>
          <p:nvPr/>
        </p:nvSpPr>
        <p:spPr>
          <a:xfrm>
            <a:off x="8165592" y="4069080"/>
            <a:ext cx="502920" cy="502920"/>
          </a:xfrm>
          <a:prstGeom prst="ellipse">
            <a:avLst/>
          </a:prstGeom>
          <a:solidFill>
            <a:srgbClr val="A31621"/>
          </a:solidFill>
          <a:ln/>
        </p:spPr>
      </p:sp>
      <p:pic>
        <p:nvPicPr>
          <p:cNvPr id="31" name="Image 5" descr="/home/claude/sumpah_pemuda/icon_us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4" y="4187952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165592" y="4709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Johannes Leimena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165592" y="50749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Perwakilan pemuda Kristen yang turut memperkuat semangat persatuan lintas golongan.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PERSATUAN LINTAS DAERAH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Organisasi Peserta Kongres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Puluhan organisasi pemuda kedaerahan hadir dan melebur cita-cita dalam satu kongres.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272284"/>
            <a:ext cx="438912" cy="438912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7" name="Image 0" descr="/home/claude/sumpah_pemuda/icon_land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3820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87452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Jong Java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42816" y="18745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43984" y="2272284"/>
            <a:ext cx="438912" cy="438912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1" name="Image 1" descr="/home/claude/sumpah_pemuda/icon_landmar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3820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0056" y="187452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Jong Sumatranen Bond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936992" y="18745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138160" y="2272284"/>
            <a:ext cx="438912" cy="438912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5" name="Image 2" descr="/home/claude/sumpah_pemuda/icon_landmar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38201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714232" y="187452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Jong Islamieten Bond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33375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49808" y="3735324"/>
            <a:ext cx="438912" cy="438912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9" name="Image 3" descr="/home/claude/sumpah_pemuda/icon_landmar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84505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5880" y="33375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Jong Celebes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242816" y="33375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443984" y="3735324"/>
            <a:ext cx="438912" cy="438912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23" name="Image 4" descr="/home/claude/sumpah_pemuda/icon_landmar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3845052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020056" y="33375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Jong Ambon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7936992" y="33375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138160" y="3735324"/>
            <a:ext cx="438912" cy="438912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27" name="Image 5" descr="/home/claude/sumpah_pemuda/icon_landmar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3845052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714232" y="33375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Sekar Rukun</a:t>
            </a:r>
            <a:endParaRPr lang="en-US" sz="1350" dirty="0"/>
          </a:p>
        </p:txBody>
      </p:sp>
      <p:sp>
        <p:nvSpPr>
          <p:cNvPr id="29" name="Shape 21"/>
          <p:cNvSpPr/>
          <p:nvPr/>
        </p:nvSpPr>
        <p:spPr>
          <a:xfrm>
            <a:off x="548640" y="48006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49808" y="5198364"/>
            <a:ext cx="438912" cy="438912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31" name="Image 6" descr="/home/claude/sumpah_pemuda/icon_landmark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5308092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325880" y="48006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Jong Bataks Bond</a:t>
            </a:r>
            <a:endParaRPr lang="en-US" sz="1350" dirty="0"/>
          </a:p>
        </p:txBody>
      </p:sp>
      <p:sp>
        <p:nvSpPr>
          <p:cNvPr id="33" name="Shape 24"/>
          <p:cNvSpPr/>
          <p:nvPr/>
        </p:nvSpPr>
        <p:spPr>
          <a:xfrm>
            <a:off x="4242816" y="48006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4443984" y="5198364"/>
            <a:ext cx="438912" cy="438912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35" name="Image 7" descr="/home/claude/sumpah_pemuda/icon_landmark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712" y="5308092"/>
            <a:ext cx="219456" cy="219456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5020056" y="48006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Pemuda Kaum Betawi</a:t>
            </a:r>
            <a:endParaRPr lang="en-US" sz="1350" dirty="0"/>
          </a:p>
        </p:txBody>
      </p:sp>
      <p:sp>
        <p:nvSpPr>
          <p:cNvPr id="37" name="Shape 27"/>
          <p:cNvSpPr/>
          <p:nvPr/>
        </p:nvSpPr>
        <p:spPr>
          <a:xfrm>
            <a:off x="7936992" y="48006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8138160" y="5198364"/>
            <a:ext cx="438912" cy="438912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39" name="Image 8" descr="/home/claude/sumpah_pemuda/icon_landmark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7888" y="5308092"/>
            <a:ext cx="219456" cy="219456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8714232" y="48006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PPPI</a:t>
            </a:r>
            <a:endParaRPr lang="en-US" sz="1350" dirty="0"/>
          </a:p>
        </p:txBody>
      </p:sp>
      <p:sp>
        <p:nvSpPr>
          <p:cNvPr id="41" name="Text 3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Makna dan Nilai Sumpah Pemuda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F7F1E9"/>
          </a:solidFill>
          <a:ln/>
        </p:spPr>
      </p:sp>
      <p:sp>
        <p:nvSpPr>
          <p:cNvPr id="5" name="Shape 3"/>
          <p:cNvSpPr/>
          <p:nvPr/>
        </p:nvSpPr>
        <p:spPr>
          <a:xfrm>
            <a:off x="1805940" y="2103120"/>
            <a:ext cx="914400" cy="914400"/>
          </a:xfrm>
          <a:prstGeom prst="ellipse">
            <a:avLst/>
          </a:prstGeom>
          <a:solidFill>
            <a:srgbClr val="A31621"/>
          </a:solidFill>
          <a:ln/>
        </p:spPr>
      </p:sp>
      <p:pic>
        <p:nvPicPr>
          <p:cNvPr id="6" name="Image 0" descr="/home/claude/sumpah_pemuda/icon_mark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7108" y="230428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Nusa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0332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Menegaskan bahwa seluruh wilayah Nusantara adalah satu kesatuan tanah air, melampaui batas kedaerahan.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F7F1E9"/>
          </a:solidFill>
          <a:ln/>
        </p:spPr>
      </p:sp>
      <p:sp>
        <p:nvSpPr>
          <p:cNvPr id="10" name="Shape 7"/>
          <p:cNvSpPr/>
          <p:nvPr/>
        </p:nvSpPr>
        <p:spPr>
          <a:xfrm>
            <a:off x="5554980" y="2103120"/>
            <a:ext cx="914400" cy="914400"/>
          </a:xfrm>
          <a:prstGeom prst="ellipse">
            <a:avLst/>
          </a:prstGeom>
          <a:solidFill>
            <a:srgbClr val="A31621"/>
          </a:solidFill>
          <a:ln/>
        </p:spPr>
      </p:sp>
      <p:pic>
        <p:nvPicPr>
          <p:cNvPr id="11" name="Image 1" descr="/home/claude/sumpah_pemuda/icon_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148" y="230428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Bangsa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70332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Menumbuhkan identitas bersama sebagai bangsa Indonesia, menyatukan beragam suku dan budaya.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73736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F7F1E9"/>
          </a:solidFill>
          <a:ln/>
        </p:spPr>
      </p:sp>
      <p:sp>
        <p:nvSpPr>
          <p:cNvPr id="15" name="Shape 11"/>
          <p:cNvSpPr/>
          <p:nvPr/>
        </p:nvSpPr>
        <p:spPr>
          <a:xfrm>
            <a:off x="9304020" y="2103120"/>
            <a:ext cx="914400" cy="914400"/>
          </a:xfrm>
          <a:prstGeom prst="ellipse">
            <a:avLst/>
          </a:prstGeom>
          <a:solidFill>
            <a:srgbClr val="A31621"/>
          </a:solidFill>
          <a:ln/>
        </p:spPr>
      </p:sp>
      <p:pic>
        <p:nvPicPr>
          <p:cNvPr id="16" name="Image 2" descr="/home/claude/sumpah_pemuda/icon_bullhor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188" y="230428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Bahasa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70332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Mengangkat bahasa Melayu menjadi bahasa Indonesia sebagai alat pemersatu komunikasi bangsa.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WARISAN SEJARAH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Dampak bagi Perjuangan Kemerdekaan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C2B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sumpah_pemuda/icon_handshak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517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Menyatukan gerakan pemuda dari berbagai daerah menjadi satu kekuatan perjuangan nasional yang solid.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26480" y="1691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C2B4A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96596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0" name="Image 1" descr="/home/claude/sumpah_pemuda/icon_glob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312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0" y="26517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Mempercepat tumbuhnya semangat nasionalisme yang bermuara pada Proklamasi Kemerdekaan 17 Agustus 1945.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93192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C2B4A"/>
          </a:solidFill>
          <a:ln/>
        </p:spPr>
      </p:sp>
      <p:sp>
        <p:nvSpPr>
          <p:cNvPr id="13" name="Shape 9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2" descr="/home/claude/sumpah_pemuda/icon_boo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4340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2960" y="4892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Meneguhkan kedudukan bahasa Indonesia sebagai bahasa nasional yang digunakan hingga saat ini.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26480" y="393192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C2B4A"/>
          </a:solidFill>
          <a:ln/>
        </p:spPr>
      </p:sp>
      <p:sp>
        <p:nvSpPr>
          <p:cNvPr id="17" name="Shape 12"/>
          <p:cNvSpPr/>
          <p:nvPr/>
        </p:nvSpPr>
        <p:spPr>
          <a:xfrm>
            <a:off x="6400800" y="42062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3" descr="/home/claude/sumpah_pemuda/icon_calenda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34340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00800" y="4892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dasar penetapan 28 Oktober sebagai Hari Sumpah Pemuda yang diperingati setiap tahun.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3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7A1019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023360" cy="4023360"/>
          </a:xfrm>
          <a:prstGeom prst="ellipse">
            <a:avLst/>
          </a:prstGeom>
          <a:solidFill>
            <a:srgbClr val="7A1019"/>
          </a:solidFill>
          <a:ln/>
        </p:spPr>
      </p:sp>
      <p:pic>
        <p:nvPicPr>
          <p:cNvPr id="4" name="Image 0" descr="/home/claude/sumpah_pemuda/icon_quot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10058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82880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“Satu Nusa, Satu Bangsa, Satu Bahasa — Indonesia.”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394960" y="3063240"/>
            <a:ext cx="1399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0" y="3337560"/>
            <a:ext cx="8531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3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Semangat Sumpah Pemuda tetap relevan hingga kini — mengingatkan generasi muda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3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akan pentingnya persatuan di tengah keberagaman bangsa Indonesia.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493776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SELAMAT HARI SUMPAH PEMUDA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2026-09-01T15:20:55Z</dcterms:created>
  <dcterms:modified xsi:type="dcterms:W3CDTF">2026-09-01T15:20:55Z</dcterms:modified>
</cp:coreProperties>
</file>